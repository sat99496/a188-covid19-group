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0"/>
  </p:notesMasterIdLst>
  <p:handoutMasterIdLst>
    <p:handoutMasterId r:id="rId11"/>
  </p:handoutMasterIdLst>
  <p:sldIdLst>
    <p:sldId id="289" r:id="rId5"/>
    <p:sldId id="340" r:id="rId6"/>
    <p:sldId id="329" r:id="rId7"/>
    <p:sldId id="336" r:id="rId8"/>
    <p:sldId id="34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7CBE"/>
    <a:srgbClr val="85509A"/>
    <a:srgbClr val="714484"/>
    <a:srgbClr val="0073CF"/>
    <a:srgbClr val="203232"/>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32"/>
    <p:restoredTop sz="94708"/>
  </p:normalViewPr>
  <p:slideViewPr>
    <p:cSldViewPr snapToGrid="0">
      <p:cViewPr>
        <p:scale>
          <a:sx n="124" d="100"/>
          <a:sy n="124" d="100"/>
        </p:scale>
        <p:origin x="40" y="440"/>
      </p:cViewPr>
      <p:guideLst>
        <p:guide orient="horz" pos="2160"/>
        <p:guide pos="3840"/>
        <p:guide orient="horz" pos="3249"/>
        <p:guide pos="7068"/>
        <p:guide orient="horz" pos="13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03/12/2025</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03/12/2025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2</a:t>
            </a:fld>
            <a:endParaRPr lang="en-GB"/>
          </a:p>
        </p:txBody>
      </p:sp>
    </p:spTree>
    <p:extLst>
      <p:ext uri="{BB962C8B-B14F-4D97-AF65-F5344CB8AC3E}">
        <p14:creationId xmlns:p14="http://schemas.microsoft.com/office/powerpoint/2010/main" val="3956718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Before specifying your Research Question you must define the type of data you are analysing.  Are the variables you select interval data (measurement data you can divide, multiple, etc),  OR are they ordinal (there is a definite order but the intervals between each variable are not necessarily equal, or the terms might be subjective like in a </a:t>
            </a:r>
            <a:r>
              <a:rPr lang="en-GB" err="1"/>
              <a:t>likert</a:t>
            </a:r>
            <a:r>
              <a:rPr lang="en-GB"/>
              <a:t> scale); OR are they just categorical/nominal (Items such as film names, cities, etc., that you can count numbers of occurrences?   You also need to understand whether the variable is either dependent or independent and this will vary according to the context. Independent variables may cause an effect, whereas the dependent variable might be effected by the independent variable.  Check the lecture notes on the RQ for more information and examples.  </a:t>
            </a:r>
          </a:p>
          <a:p>
            <a:endParaRPr lang="en-GB"/>
          </a:p>
          <a:p>
            <a:r>
              <a:rPr lang="en-GB"/>
              <a:t>You will get only one opportunity to present your Research Question ahead of the submission date.  Have your questions ready, and be ready to take notes on feedback.</a:t>
            </a:r>
          </a:p>
        </p:txBody>
      </p:sp>
      <p:sp>
        <p:nvSpPr>
          <p:cNvPr id="4" name="Slide Number Placeholder 3"/>
          <p:cNvSpPr>
            <a:spLocks noGrp="1"/>
          </p:cNvSpPr>
          <p:nvPr>
            <p:ph type="sldNum" sz="quarter" idx="5"/>
          </p:nvPr>
        </p:nvSpPr>
        <p:spPr/>
        <p:txBody>
          <a:bodyPr/>
          <a:lstStyle/>
          <a:p>
            <a:fld id="{30370952-48CC-46D7-9FCD-59FAD40CC025}" type="slidenum">
              <a:rPr lang="en-GB" smtClean="0"/>
              <a:pPr/>
              <a:t>3</a:t>
            </a:fld>
            <a:endParaRPr lang="en-GB"/>
          </a:p>
        </p:txBody>
      </p:sp>
    </p:spTree>
    <p:extLst>
      <p:ext uri="{BB962C8B-B14F-4D97-AF65-F5344CB8AC3E}">
        <p14:creationId xmlns:p14="http://schemas.microsoft.com/office/powerpoint/2010/main" val="2905941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4</a:t>
            </a:fld>
            <a:endParaRPr lang="en-GB"/>
          </a:p>
        </p:txBody>
      </p:sp>
    </p:spTree>
    <p:extLst>
      <p:ext uri="{BB962C8B-B14F-4D97-AF65-F5344CB8AC3E}">
        <p14:creationId xmlns:p14="http://schemas.microsoft.com/office/powerpoint/2010/main" val="2667984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5</a:t>
            </a:fld>
            <a:endParaRPr lang="en-GB"/>
          </a:p>
        </p:txBody>
      </p:sp>
    </p:spTree>
    <p:extLst>
      <p:ext uri="{BB962C8B-B14F-4D97-AF65-F5344CB8AC3E}">
        <p14:creationId xmlns:p14="http://schemas.microsoft.com/office/powerpoint/2010/main" val="39394292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a:t>Click to edit master title</a:t>
            </a:r>
            <a:endParaRPr lang="en-GB"/>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a:t>Click to edit master title</a:t>
            </a:r>
            <a:endParaRPr lang="en-GB"/>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a:t>Click to add title.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a:t>Add Text</a:t>
            </a:r>
            <a:endParaRPr lang="en-GB"/>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a:t>Click to add title.</a:t>
            </a:r>
            <a:endParaRPr lang="en-GB"/>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endParaRPr lang="en-GB"/>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a:t>Click to edit Master title style</a:t>
            </a:r>
            <a:endParaRPr lang="en-GB"/>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862170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GB"/>
              <a:t>Fourth level</a:t>
            </a:r>
          </a:p>
          <a:p>
            <a:pPr lvl="4"/>
            <a:r>
              <a:rPr lang="en-GB" b="1"/>
              <a:t>Fifth level</a:t>
            </a:r>
            <a:endParaRPr lang="en-GB"/>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a:xfrm>
            <a:off x="953999" y="2579715"/>
            <a:ext cx="10605823" cy="1913263"/>
          </a:xfrm>
        </p:spPr>
        <p:txBody>
          <a:bodyPr>
            <a:normAutofit fontScale="90000"/>
          </a:bodyPr>
          <a:lstStyle/>
          <a:p>
            <a:pPr>
              <a:lnSpc>
                <a:spcPct val="100000"/>
              </a:lnSpc>
            </a:pPr>
            <a:r>
              <a:rPr lang="en-US" sz="4000" dirty="0"/>
              <a:t>Research Question </a:t>
            </a:r>
            <a:r>
              <a:rPr lang="en-US" sz="3100" dirty="0"/>
              <a:t>– </a:t>
            </a:r>
            <a:r>
              <a:rPr lang="en-US" sz="3200" dirty="0"/>
              <a:t>Is there a difference in the mean weekly COVID-19 deaths per million population between high-income and low-income countries?</a:t>
            </a:r>
            <a:br>
              <a:rPr lang="en-US" sz="8000" dirty="0"/>
            </a:br>
            <a:endParaRPr lang="en-US" dirty="0"/>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a:xfrm>
            <a:off x="954000" y="1890000"/>
            <a:ext cx="10908652" cy="360000"/>
          </a:xfrm>
        </p:spPr>
        <p:txBody>
          <a:bodyPr/>
          <a:lstStyle/>
          <a:p>
            <a:r>
              <a:rPr lang="en-US" sz="2000" dirty="0"/>
              <a:t>Group Name:                                                            Name of Student Presenting: </a:t>
            </a:r>
            <a:r>
              <a:rPr lang="en-US" sz="2000" dirty="0" err="1"/>
              <a:t>Purna</a:t>
            </a:r>
            <a:r>
              <a:rPr lang="en-US" sz="2000" dirty="0"/>
              <a:t> Satish </a:t>
            </a:r>
            <a:r>
              <a:rPr lang="en-US" sz="2000" dirty="0" err="1"/>
              <a:t>Dasari</a:t>
            </a:r>
            <a:endParaRPr lang="en-US" sz="2000" dirty="0"/>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965289" y="274320"/>
            <a:ext cx="10455567" cy="736245"/>
          </a:xfrm>
        </p:spPr>
        <p:txBody>
          <a:bodyPr/>
          <a:lstStyle/>
          <a:p>
            <a:r>
              <a:rPr lang="en-GB" dirty="0"/>
              <a:t>7COM1079-2025  Student Group No:  </a:t>
            </a:r>
            <a:r>
              <a:rPr lang="en-GB" b="0" i="0" dirty="0">
                <a:solidFill>
                  <a:srgbClr val="323130"/>
                </a:solidFill>
                <a:effectLst/>
                <a:latin typeface="Segoe UI" panose="020B0502040204020203" pitchFamily="34" charset="0"/>
              </a:rPr>
              <a:t>A188</a:t>
            </a:r>
            <a:r>
              <a:rPr lang="en-GB" dirty="0"/>
              <a:t>                  Names of Student Attendees  (all group should attend to get feedback): </a:t>
            </a:r>
          </a:p>
        </p:txBody>
      </p:sp>
    </p:spTree>
    <p:extLst>
      <p:ext uri="{BB962C8B-B14F-4D97-AF65-F5344CB8AC3E}">
        <p14:creationId xmlns:p14="http://schemas.microsoft.com/office/powerpoint/2010/main" val="4148532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230832"/>
          </a:xfrm>
        </p:spPr>
        <p:txBody>
          <a:bodyPr vert="horz" lIns="0" tIns="0" rIns="0" bIns="0" rtlCol="0" anchor="t">
            <a:noAutofit/>
          </a:bodyPr>
          <a:lstStyle/>
          <a:p>
            <a:pPr>
              <a:spcAft>
                <a:spcPts val="0"/>
              </a:spcAft>
            </a:pPr>
            <a:r>
              <a:rPr lang="en-GB">
                <a:solidFill>
                  <a:srgbClr val="203232"/>
                </a:solidFill>
                <a:cs typeface="Arial"/>
              </a:rPr>
              <a:t>Here is a sample of our dataset: </a:t>
            </a:r>
            <a:endParaRPr lang="en-GB" sz="1800">
              <a:solidFill>
                <a:srgbClr val="FF0000"/>
              </a:solidFill>
              <a:cs typeface="Aria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dirty="0"/>
              <a:t>PRE 7COM1079-2025  Student Group No:  A188</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8" name="Title 7">
            <a:extLst>
              <a:ext uri="{FF2B5EF4-FFF2-40B4-BE49-F238E27FC236}">
                <a16:creationId xmlns:a16="http://schemas.microsoft.com/office/drawing/2014/main" id="{6E140EA5-BB03-811F-4631-603A97631914}"/>
              </a:ext>
            </a:extLst>
          </p:cNvPr>
          <p:cNvSpPr>
            <a:spLocks noGrp="1"/>
          </p:cNvSpPr>
          <p:nvPr>
            <p:ph type="ctrTitle"/>
          </p:nvPr>
        </p:nvSpPr>
        <p:spPr>
          <a:xfrm>
            <a:off x="964884" y="2089858"/>
            <a:ext cx="6519650" cy="3194024"/>
          </a:xfrm>
        </p:spPr>
        <p:txBody>
          <a:bodyPr>
            <a:normAutofit fontScale="90000"/>
          </a:bodyPr>
          <a:lstStyle/>
          <a:p>
            <a:pPr marL="742950" indent="-742950">
              <a:lnSpc>
                <a:spcPts val="2880"/>
              </a:lnSpc>
              <a:spcBef>
                <a:spcPts val="0"/>
              </a:spcBef>
              <a:spcAft>
                <a:spcPts val="992"/>
              </a:spcAft>
              <a:buAutoNum type="arabicPeriod"/>
            </a:pPr>
            <a:r>
              <a:rPr lang="en-GB" sz="2800" b="0" dirty="0">
                <a:cs typeface="Arial"/>
              </a:rPr>
              <a:t>‘</a:t>
            </a:r>
            <a:r>
              <a:rPr lang="en-GB" sz="2800" b="0" dirty="0" err="1">
                <a:cs typeface="Arial"/>
              </a:rPr>
              <a:t>new_cases</a:t>
            </a:r>
            <a:r>
              <a:rPr lang="en-GB" sz="2800" b="0" dirty="0">
                <a:cs typeface="Arial"/>
              </a:rPr>
              <a:t>’ and ‘</a:t>
            </a:r>
            <a:r>
              <a:rPr lang="en-GB" sz="2800" b="0" dirty="0" err="1">
                <a:cs typeface="Arial"/>
              </a:rPr>
              <a:t>new_deaths</a:t>
            </a:r>
            <a:r>
              <a:rPr lang="en-GB" sz="2800" b="0" dirty="0">
                <a:cs typeface="Arial"/>
              </a:rPr>
              <a:t>’</a:t>
            </a:r>
            <a:endParaRPr lang="en-US" sz="2800" b="0" dirty="0">
              <a:cs typeface="Arial"/>
            </a:endParaRPr>
          </a:p>
          <a:p>
            <a:pPr marL="742950" indent="-742950">
              <a:lnSpc>
                <a:spcPts val="2880"/>
              </a:lnSpc>
              <a:spcBef>
                <a:spcPts val="0"/>
              </a:spcBef>
              <a:spcAft>
                <a:spcPts val="992"/>
              </a:spcAft>
              <a:buAutoNum type="arabicPeriod"/>
            </a:pPr>
            <a:br>
              <a:rPr lang="en-GB" sz="2800" dirty="0">
                <a:cs typeface="Arial"/>
              </a:rPr>
            </a:br>
            <a:br>
              <a:rPr lang="en-GB" sz="2800" dirty="0">
                <a:cs typeface="Arial"/>
              </a:rPr>
            </a:br>
            <a:endParaRPr lang="en-GB" sz="2800" dirty="0">
              <a:cs typeface="Arial"/>
            </a:endParaRPr>
          </a:p>
          <a:p>
            <a:br>
              <a:rPr lang="en-US" sz="2400" dirty="0">
                <a:cs typeface="Arial"/>
              </a:rPr>
            </a:br>
            <a:endParaRPr lang="en-US" sz="2400" dirty="0">
              <a:cs typeface="Arial"/>
            </a:endParaRPr>
          </a:p>
        </p:txBody>
      </p:sp>
      <p:pic>
        <p:nvPicPr>
          <p:cNvPr id="6" name="Picture 5" descr="A screenshot of a table&#10;&#10;AI-generated content may be incorrect.">
            <a:extLst>
              <a:ext uri="{FF2B5EF4-FFF2-40B4-BE49-F238E27FC236}">
                <a16:creationId xmlns:a16="http://schemas.microsoft.com/office/drawing/2014/main" id="{EBCF0E47-8F97-BDAB-4B20-2EF4CD03C5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22621" y="2556253"/>
            <a:ext cx="5204176" cy="2240686"/>
          </a:xfrm>
          <a:prstGeom prst="rect">
            <a:avLst/>
          </a:prstGeom>
        </p:spPr>
      </p:pic>
    </p:spTree>
    <p:extLst>
      <p:ext uri="{BB962C8B-B14F-4D97-AF65-F5344CB8AC3E}">
        <p14:creationId xmlns:p14="http://schemas.microsoft.com/office/powerpoint/2010/main" val="713092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9D8228-727F-1E46-B5AD-91D158B8255E}"/>
              </a:ext>
            </a:extLst>
          </p:cNvPr>
          <p:cNvSpPr>
            <a:spLocks noGrp="1"/>
          </p:cNvSpPr>
          <p:nvPr>
            <p:ph type="subTitle" idx="1"/>
          </p:nvPr>
        </p:nvSpPr>
        <p:spPr>
          <a:xfrm>
            <a:off x="965288" y="1285092"/>
            <a:ext cx="10110240" cy="588024"/>
          </a:xfrm>
        </p:spPr>
        <p:txBody>
          <a:bodyPr vert="horz" lIns="0" tIns="0" rIns="0" bIns="0" rtlCol="0" anchor="t">
            <a:noAutofit/>
          </a:bodyPr>
          <a:lstStyle/>
          <a:p>
            <a:r>
              <a:rPr lang="en-US" dirty="0"/>
              <a:t>Dataset </a:t>
            </a:r>
            <a:r>
              <a:rPr lang="en-US" dirty="0">
                <a:solidFill>
                  <a:srgbClr val="203232"/>
                </a:solidFill>
              </a:rPr>
              <a:t>ID</a:t>
            </a:r>
            <a:r>
              <a:rPr lang="en-US" sz="2000" dirty="0">
                <a:solidFill>
                  <a:schemeClr val="tx1"/>
                </a:solidFill>
              </a:rPr>
              <a:t>: ds030, full_data.csv</a:t>
            </a:r>
            <a:endParaRPr lang="en-US" sz="2400" dirty="0">
              <a:solidFill>
                <a:schemeClr val="tx1"/>
              </a:solidFill>
            </a:endParaRPr>
          </a:p>
        </p:txBody>
      </p:sp>
      <p:sp>
        <p:nvSpPr>
          <p:cNvPr id="3" name="Footer Placeholder 2">
            <a:extLst>
              <a:ext uri="{FF2B5EF4-FFF2-40B4-BE49-F238E27FC236}">
                <a16:creationId xmlns:a16="http://schemas.microsoft.com/office/drawing/2014/main" id="{00EBC183-8AA5-EC44-9987-D65F5C1892A1}"/>
              </a:ext>
            </a:extLst>
          </p:cNvPr>
          <p:cNvSpPr>
            <a:spLocks noGrp="1"/>
          </p:cNvSpPr>
          <p:nvPr>
            <p:ph type="ftr" sz="quarter" idx="11"/>
          </p:nvPr>
        </p:nvSpPr>
        <p:spPr>
          <a:xfrm>
            <a:off x="965288" y="791022"/>
            <a:ext cx="9129687" cy="230832"/>
          </a:xfrm>
        </p:spPr>
        <p:txBody>
          <a:bodyPr/>
          <a:lstStyle/>
          <a:p>
            <a:r>
              <a:rPr lang="en-GB" dirty="0"/>
              <a:t>7COM1079-2025  Student Group No:  </a:t>
            </a:r>
            <a:r>
              <a:rPr lang="en-GB" b="0" i="0" dirty="0">
                <a:solidFill>
                  <a:srgbClr val="323130"/>
                </a:solidFill>
                <a:effectLst/>
                <a:latin typeface="Segoe UI" panose="020B0502040204020203" pitchFamily="34" charset="0"/>
              </a:rPr>
              <a:t>A188</a:t>
            </a:r>
            <a:r>
              <a:rPr lang="en-GB" dirty="0"/>
              <a:t>                  Names of Student Group Attendees: </a:t>
            </a:r>
          </a:p>
        </p:txBody>
      </p:sp>
      <p:sp>
        <p:nvSpPr>
          <p:cNvPr id="4" name="Slide Number Placeholder 3">
            <a:extLst>
              <a:ext uri="{FF2B5EF4-FFF2-40B4-BE49-F238E27FC236}">
                <a16:creationId xmlns:a16="http://schemas.microsoft.com/office/drawing/2014/main" id="{CC9D9611-42EE-7840-81EE-DD6B1A99CD7B}"/>
              </a:ext>
            </a:extLst>
          </p:cNvPr>
          <p:cNvSpPr>
            <a:spLocks noGrp="1"/>
          </p:cNvSpPr>
          <p:nvPr>
            <p:ph type="sldNum" sz="quarter" idx="12"/>
          </p:nvPr>
        </p:nvSpPr>
        <p:spPr>
          <a:xfrm>
            <a:off x="10954512" y="555565"/>
            <a:ext cx="622800" cy="230832"/>
          </a:xfrm>
        </p:spPr>
        <p:txBody>
          <a:bodyPr/>
          <a:lstStyle/>
          <a:p>
            <a:r>
              <a:rPr lang="en-US"/>
              <a:t>2</a:t>
            </a:r>
            <a:endParaRPr lang="en-GB"/>
          </a:p>
        </p:txBody>
      </p:sp>
      <p:sp>
        <p:nvSpPr>
          <p:cNvPr id="5" name="Title 4">
            <a:extLst>
              <a:ext uri="{FF2B5EF4-FFF2-40B4-BE49-F238E27FC236}">
                <a16:creationId xmlns:a16="http://schemas.microsoft.com/office/drawing/2014/main" id="{B3FA3829-F12C-214D-8FBA-7E1A740F65CA}"/>
              </a:ext>
            </a:extLst>
          </p:cNvPr>
          <p:cNvSpPr>
            <a:spLocks noGrp="1"/>
          </p:cNvSpPr>
          <p:nvPr>
            <p:ph type="ctrTitle"/>
          </p:nvPr>
        </p:nvSpPr>
        <p:spPr>
          <a:xfrm>
            <a:off x="965288" y="1698305"/>
            <a:ext cx="10974945" cy="2699181"/>
          </a:xfrm>
        </p:spPr>
        <p:txBody>
          <a:bodyPr>
            <a:noAutofit/>
          </a:bodyPr>
          <a:lstStyle/>
          <a:p>
            <a:pPr>
              <a:lnSpc>
                <a:spcPct val="100000"/>
              </a:lnSpc>
            </a:pPr>
            <a:r>
              <a:rPr lang="en-US" sz="2400" b="0" dirty="0">
                <a:latin typeface="Calibri"/>
                <a:cs typeface="Calibri"/>
              </a:rPr>
              <a:t>This dataset is interesting to us because : </a:t>
            </a:r>
            <a:r>
              <a:rPr lang="en-GB" sz="2400" b="0" dirty="0">
                <a:latin typeface="Calibri"/>
                <a:cs typeface="Calibri"/>
              </a:rPr>
              <a:t>This dataset is interesting to us because it contains global COVID-19 daily statistics across many countries and income groups , including weekly death counts. This allows us to compare morality </a:t>
            </a:r>
            <a:br>
              <a:rPr lang="en-US" sz="2400" b="0" dirty="0">
                <a:latin typeface="Calibri" panose="020F0502020204030204" pitchFamily="34" charset="0"/>
                <a:cs typeface="Calibri" panose="020F0502020204030204" pitchFamily="34" charset="0"/>
              </a:rPr>
            </a:br>
            <a:r>
              <a:rPr lang="en-US" sz="2400" b="0" dirty="0">
                <a:latin typeface="Calibri"/>
                <a:cs typeface="Calibri"/>
              </a:rPr>
              <a:t>Our  Independent variable is: (High income / Low income)               </a:t>
            </a:r>
            <a:br>
              <a:rPr lang="en-US" sz="2400" b="0" dirty="0">
                <a:latin typeface="Calibri"/>
                <a:cs typeface="Calibri"/>
              </a:rPr>
            </a:br>
            <a:r>
              <a:rPr lang="en-US" sz="2400" b="0" dirty="0">
                <a:latin typeface="Calibri"/>
                <a:cs typeface="Calibri"/>
              </a:rPr>
              <a:t>This  Independent variable datatype is (select one): Categorical/Nominal data.</a:t>
            </a:r>
            <a:br>
              <a:rPr lang="en-US" sz="2400" b="0" dirty="0">
                <a:latin typeface="Calibri" panose="020F0502020204030204" pitchFamily="34" charset="0"/>
                <a:cs typeface="Calibri" panose="020F0502020204030204" pitchFamily="34" charset="0"/>
              </a:rPr>
            </a:br>
            <a:r>
              <a:rPr lang="en-US" sz="2400" b="0" dirty="0">
                <a:latin typeface="Calibri"/>
                <a:cs typeface="Calibri"/>
              </a:rPr>
              <a:t>Our Dependent variable is: (</a:t>
            </a:r>
            <a:r>
              <a:rPr lang="en-US" sz="2400" b="0" dirty="0" err="1">
                <a:latin typeface="Calibri"/>
                <a:cs typeface="Calibri"/>
              </a:rPr>
              <a:t>weekly_deaths</a:t>
            </a:r>
            <a:r>
              <a:rPr lang="en-US" sz="2400" b="0" dirty="0">
                <a:latin typeface="Calibri"/>
                <a:cs typeface="Calibri"/>
              </a:rPr>
              <a:t> per million population)</a:t>
            </a:r>
            <a:br>
              <a:rPr lang="en-US" sz="2400" b="0" dirty="0">
                <a:latin typeface="Calibri" panose="020F0502020204030204" pitchFamily="34" charset="0"/>
                <a:cs typeface="Calibri" panose="020F0502020204030204" pitchFamily="34" charset="0"/>
              </a:rPr>
            </a:br>
            <a:r>
              <a:rPr lang="en-US" sz="2400" b="0" dirty="0">
                <a:latin typeface="Calibri"/>
                <a:cs typeface="Calibri"/>
              </a:rPr>
              <a:t>This Dependent variable datatype is  (select one): </a:t>
            </a:r>
            <a:r>
              <a:rPr lang="en-US" sz="2400" b="0" dirty="0" err="1">
                <a:latin typeface="Calibri"/>
                <a:cs typeface="Calibri"/>
              </a:rPr>
              <a:t>Continous</a:t>
            </a:r>
            <a:r>
              <a:rPr lang="en-US" sz="2400" b="0" dirty="0">
                <a:latin typeface="Calibri"/>
                <a:cs typeface="Calibri"/>
              </a:rPr>
              <a:t>/Interval-ratio measurement data</a:t>
            </a:r>
          </a:p>
        </p:txBody>
      </p:sp>
    </p:spTree>
    <p:extLst>
      <p:ext uri="{BB962C8B-B14F-4D97-AF65-F5344CB8AC3E}">
        <p14:creationId xmlns:p14="http://schemas.microsoft.com/office/powerpoint/2010/main" val="1718004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230832"/>
          </a:xfrm>
        </p:spPr>
        <p:txBody>
          <a:bodyPr/>
          <a:lstStyle/>
          <a:p>
            <a:pPr>
              <a:spcAft>
                <a:spcPts val="0"/>
              </a:spcAft>
            </a:pPr>
            <a:r>
              <a:rPr lang="en-GB" dirty="0"/>
              <a:t>Our Research Question is: </a:t>
            </a:r>
            <a:r>
              <a:rPr lang="en-GB" sz="3200" dirty="0"/>
              <a:t>Is there a significant difference in the mean weekly deaths per million population between high income  and low income countries ?</a:t>
            </a:r>
            <a:r>
              <a:rPr lang="en-US" sz="3200" dirty="0"/>
              <a:t> </a:t>
            </a:r>
            <a:endParaRPr lang="en-GB" sz="3200" dirty="0">
              <a:solidFill>
                <a:srgbClr val="FF0000"/>
              </a:solidFil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dirty="0"/>
              <a:t>PRE 7COM1079-2025  Student Group No:  A188</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5" name="Title 4">
            <a:extLst>
              <a:ext uri="{FF2B5EF4-FFF2-40B4-BE49-F238E27FC236}">
                <a16:creationId xmlns:a16="http://schemas.microsoft.com/office/drawing/2014/main" id="{3440DA25-F620-152B-DE9E-776F7B74DFF0}"/>
              </a:ext>
            </a:extLst>
          </p:cNvPr>
          <p:cNvSpPr>
            <a:spLocks noGrp="1"/>
          </p:cNvSpPr>
          <p:nvPr>
            <p:ph type="ctrTitle"/>
          </p:nvPr>
        </p:nvSpPr>
        <p:spPr>
          <a:xfrm>
            <a:off x="668696" y="2851997"/>
            <a:ext cx="10640594" cy="926674"/>
          </a:xfrm>
        </p:spPr>
        <p:txBody>
          <a:bodyPr>
            <a:noAutofit/>
          </a:bodyPr>
          <a:lstStyle/>
          <a:p>
            <a:pPr>
              <a:lnSpc>
                <a:spcPct val="100000"/>
              </a:lnSpc>
            </a:pPr>
            <a:r>
              <a:rPr lang="en-IE" sz="2400" dirty="0">
                <a:effectLst/>
                <a:latin typeface="Calibri"/>
                <a:ea typeface="Calibri" panose="020F0502020204030204" pitchFamily="34" charset="0"/>
                <a:cs typeface="Times New Roman"/>
              </a:rPr>
              <a:t>Template </a:t>
            </a:r>
            <a:r>
              <a:rPr lang="en-IE" sz="2400" baseline="30000" dirty="0">
                <a:latin typeface="Calibri"/>
                <a:ea typeface="Calibri" panose="020F0502020204030204" pitchFamily="34" charset="0"/>
                <a:cs typeface="Times New Roman"/>
              </a:rPr>
              <a:t>2</a:t>
            </a:r>
            <a:r>
              <a:rPr lang="en-IE" sz="2400" b="0" baseline="30000" dirty="0">
                <a:latin typeface="Calibri"/>
                <a:ea typeface="Calibri" panose="020F0502020204030204" pitchFamily="34" charset="0"/>
                <a:cs typeface="Times New Roman"/>
              </a:rPr>
              <a:t>:</a:t>
            </a:r>
            <a:r>
              <a:rPr lang="en-IE" sz="2400" b="0" dirty="0">
                <a:effectLst/>
                <a:latin typeface="Calibri"/>
                <a:ea typeface="Calibri" panose="020F0502020204030204" pitchFamily="34" charset="0"/>
                <a:cs typeface="Times New Roman"/>
              </a:rPr>
              <a:t> </a:t>
            </a:r>
            <a:r>
              <a:rPr lang="en-IE" sz="2400" b="0" dirty="0" err="1">
                <a:effectLst/>
                <a:latin typeface="Calibri"/>
                <a:ea typeface="Calibri" panose="020F0502020204030204" pitchFamily="34" charset="0"/>
                <a:cs typeface="Times New Roman"/>
              </a:rPr>
              <a:t>Comparision</a:t>
            </a:r>
            <a:r>
              <a:rPr lang="en-IE" sz="2400" b="0" dirty="0">
                <a:effectLst/>
                <a:latin typeface="Calibri"/>
                <a:ea typeface="Calibri" panose="020F0502020204030204" pitchFamily="34" charset="0"/>
                <a:cs typeface="Times New Roman"/>
              </a:rPr>
              <a:t> of means</a:t>
            </a:r>
            <a:r>
              <a:rPr lang="en-IE" sz="2400" b="0" dirty="0">
                <a:latin typeface="Calibri"/>
                <a:ea typeface="Calibri" panose="020F0502020204030204" pitchFamily="34" charset="0"/>
                <a:cs typeface="Times New Roman"/>
              </a:rPr>
              <a:t>: “</a:t>
            </a:r>
            <a:r>
              <a:rPr lang="en-US" sz="2400" dirty="0"/>
              <a:t>Is there a difference in the mean weekly COVID-19 deaths per million population between high-income and low-income countries?</a:t>
            </a:r>
            <a:r>
              <a:rPr lang="en-GB" sz="2400" dirty="0"/>
              <a:t>?</a:t>
            </a:r>
            <a:r>
              <a:rPr lang="en-US" sz="2400" dirty="0"/>
              <a:t> </a:t>
            </a:r>
            <a:r>
              <a:rPr lang="en-US" sz="2400" b="0" dirty="0">
                <a:latin typeface="Calibri"/>
                <a:ea typeface="Calibri" panose="020F0502020204030204" pitchFamily="34" charset="0"/>
                <a:cs typeface="Times New Roman"/>
              </a:rPr>
              <a:t>”</a:t>
            </a:r>
            <a:endParaRPr lang="en-GB" sz="2400" dirty="0">
              <a:solidFill>
                <a:srgbClr val="FF0000"/>
              </a:solidFill>
            </a:endParaRPr>
          </a:p>
        </p:txBody>
      </p:sp>
      <p:sp>
        <p:nvSpPr>
          <p:cNvPr id="7" name="TextBox 6">
            <a:extLst>
              <a:ext uri="{FF2B5EF4-FFF2-40B4-BE49-F238E27FC236}">
                <a16:creationId xmlns:a16="http://schemas.microsoft.com/office/drawing/2014/main" id="{F7FEA660-7B39-BC91-3B96-7298CCF66DE1}"/>
              </a:ext>
            </a:extLst>
          </p:cNvPr>
          <p:cNvSpPr txBox="1"/>
          <p:nvPr/>
        </p:nvSpPr>
        <p:spPr>
          <a:xfrm>
            <a:off x="623945" y="5297755"/>
            <a:ext cx="11440040" cy="1477328"/>
          </a:xfrm>
          <a:prstGeom prst="rect">
            <a:avLst/>
          </a:prstGeom>
          <a:solidFill>
            <a:schemeClr val="bg1">
              <a:lumMod val="95000"/>
            </a:schemeClr>
          </a:solidFill>
        </p:spPr>
        <p:txBody>
          <a:bodyPr wrap="square" lIns="91440" tIns="45720" rIns="91440" bIns="45720" rtlCol="0" anchor="t">
            <a:spAutoFit/>
          </a:bodyPr>
          <a:lstStyle/>
          <a:p>
            <a:r>
              <a:rPr lang="en-GB" baseline="30000"/>
              <a:t>1</a:t>
            </a:r>
            <a:r>
              <a:rPr lang="en-GB" b="1">
                <a:latin typeface="Calibri"/>
                <a:cs typeface="Calibri"/>
              </a:rPr>
              <a:t>Correlation</a:t>
            </a:r>
            <a:r>
              <a:rPr lang="en-GB"/>
              <a:t> (</a:t>
            </a:r>
            <a:r>
              <a:rPr lang="en-IE" sz="1800">
                <a:effectLst/>
                <a:latin typeface="Calibri"/>
                <a:ea typeface="Calibri" panose="020F0502020204030204" pitchFamily="34" charset="0"/>
                <a:cs typeface="Times New Roman"/>
              </a:rPr>
              <a:t>Analysis of how </a:t>
            </a:r>
            <a:r>
              <a:rPr lang="en-IE" sz="1800">
                <a:solidFill>
                  <a:srgbClr val="FF0000"/>
                </a:solidFill>
                <a:effectLst/>
                <a:latin typeface="Calibri"/>
                <a:ea typeface="Calibri" panose="020F0502020204030204" pitchFamily="34" charset="0"/>
                <a:cs typeface="Times New Roman"/>
              </a:rPr>
              <a:t>ordinal</a:t>
            </a:r>
            <a:r>
              <a:rPr lang="en-IE">
                <a:solidFill>
                  <a:srgbClr val="FF0000"/>
                </a:solidFill>
                <a:latin typeface="Calibri"/>
                <a:ea typeface="Calibri" panose="020F0502020204030204" pitchFamily="34" charset="0"/>
                <a:cs typeface="Times New Roman"/>
              </a:rPr>
              <a:t>/</a:t>
            </a:r>
            <a:r>
              <a:rPr lang="en-IE" sz="1800">
                <a:solidFill>
                  <a:srgbClr val="FF0000"/>
                </a:solidFill>
                <a:effectLst/>
                <a:latin typeface="Calibri"/>
                <a:ea typeface="Calibri" panose="020F0502020204030204" pitchFamily="34" charset="0"/>
                <a:cs typeface="Times New Roman"/>
              </a:rPr>
              <a:t>interval </a:t>
            </a:r>
            <a:r>
              <a:rPr lang="en-IE" sz="1800">
                <a:solidFill>
                  <a:srgbClr val="00B050"/>
                </a:solidFill>
                <a:effectLst/>
                <a:latin typeface="Calibri"/>
                <a:ea typeface="Calibri" panose="020F0502020204030204" pitchFamily="34" charset="0"/>
                <a:cs typeface="Times New Roman"/>
              </a:rPr>
              <a:t>dependent var</a:t>
            </a:r>
            <a:r>
              <a:rPr lang="en-IE" sz="1800">
                <a:effectLst/>
                <a:latin typeface="Calibri"/>
                <a:ea typeface="Calibri" panose="020F0502020204030204" pitchFamily="34" charset="0"/>
                <a:cs typeface="Times New Roman"/>
              </a:rPr>
              <a:t> </a:t>
            </a:r>
            <a:r>
              <a:rPr lang="en-IE">
                <a:latin typeface="Calibri"/>
                <a:ea typeface="Calibri" panose="020F0502020204030204" pitchFamily="34" charset="0"/>
                <a:cs typeface="Times New Roman"/>
              </a:rPr>
              <a:t>correlates </a:t>
            </a:r>
            <a:r>
              <a:rPr lang="en-IE" sz="1800">
                <a:effectLst/>
                <a:latin typeface="Calibri"/>
                <a:ea typeface="Calibri" panose="020F0502020204030204" pitchFamily="34" charset="0"/>
                <a:cs typeface="Times New Roman"/>
              </a:rPr>
              <a:t>to an </a:t>
            </a:r>
            <a:r>
              <a:rPr lang="en-IE" sz="1800">
                <a:solidFill>
                  <a:srgbClr val="FF0000"/>
                </a:solidFill>
                <a:effectLst/>
                <a:latin typeface="Calibri"/>
                <a:ea typeface="Calibri" panose="020F0502020204030204" pitchFamily="34" charset="0"/>
                <a:cs typeface="Times New Roman"/>
              </a:rPr>
              <a:t>ordinal/interval </a:t>
            </a:r>
            <a:r>
              <a:rPr lang="en-IE" sz="1800">
                <a:solidFill>
                  <a:srgbClr val="00B050"/>
                </a:solidFill>
                <a:effectLst/>
                <a:latin typeface="Calibri"/>
                <a:ea typeface="Calibri" panose="020F0502020204030204" pitchFamily="34" charset="0"/>
                <a:cs typeface="Times New Roman"/>
              </a:rPr>
              <a:t>independent variable)</a:t>
            </a:r>
            <a:endParaRPr lang="en-GB">
              <a:latin typeface="Calibri"/>
              <a:cs typeface="Times New Roman"/>
            </a:endParaRPr>
          </a:p>
          <a:p>
            <a:r>
              <a:rPr lang="en-IE" sz="1800" b="1" baseline="30000">
                <a:effectLst/>
                <a:latin typeface="Calibri" panose="020F0502020204030204" pitchFamily="34" charset="0"/>
                <a:ea typeface="Calibri" panose="020F0502020204030204" pitchFamily="34" charset="0"/>
                <a:cs typeface="Times New Roman" panose="02020603050405020304" pitchFamily="18" charset="0"/>
              </a:rPr>
              <a:t>2</a:t>
            </a:r>
            <a:r>
              <a:rPr lang="en-IE" sz="1800" b="1">
                <a:effectLst/>
                <a:latin typeface="Calibri" panose="020F0502020204030204" pitchFamily="34" charset="0"/>
                <a:ea typeface="Calibri" panose="020F0502020204030204" pitchFamily="34" charset="0"/>
                <a:cs typeface="Times New Roman" panose="02020603050405020304" pitchFamily="18" charset="0"/>
              </a:rPr>
              <a:t>Comparison of means</a:t>
            </a:r>
            <a:r>
              <a:rPr lang="en-IE" sz="1800">
                <a:effectLst/>
                <a:latin typeface="Calibri" panose="020F0502020204030204" pitchFamily="34" charset="0"/>
                <a:ea typeface="Calibri" panose="020F0502020204030204" pitchFamily="34" charset="0"/>
                <a:cs typeface="Times New Roman" panose="02020603050405020304" pitchFamily="18" charset="0"/>
              </a:rPr>
              <a:t> (or medians): Analysis of the difference between the mean (or median) value of a characteristic shared by members of two different populations.</a:t>
            </a:r>
          </a:p>
          <a:p>
            <a:r>
              <a:rPr lang="en-IE" sz="1800" b="1" baseline="30000">
                <a:effectLst/>
                <a:latin typeface="Calibri" panose="020F0502020204030204" pitchFamily="34" charset="0"/>
                <a:ea typeface="Calibri" panose="020F0502020204030204" pitchFamily="34" charset="0"/>
                <a:cs typeface="Times New Roman" panose="02020603050405020304" pitchFamily="18" charset="0"/>
              </a:rPr>
              <a:t>3</a:t>
            </a:r>
            <a:r>
              <a:rPr lang="en-IE" sz="1800" b="1">
                <a:effectLst/>
                <a:latin typeface="Calibri" panose="020F0502020204030204" pitchFamily="34" charset="0"/>
                <a:ea typeface="Calibri" panose="020F0502020204030204" pitchFamily="34" charset="0"/>
                <a:cs typeface="Times New Roman" panose="02020603050405020304" pitchFamily="18" charset="0"/>
              </a:rPr>
              <a:t>Comparison of proportions:</a:t>
            </a:r>
            <a:r>
              <a:rPr lang="en-IE" sz="1800">
                <a:effectLst/>
                <a:latin typeface="Calibri" panose="020F0502020204030204" pitchFamily="34" charset="0"/>
                <a:ea typeface="Calibri" panose="020F0502020204030204" pitchFamily="34" charset="0"/>
                <a:cs typeface="Times New Roman" panose="02020603050405020304" pitchFamily="18" charset="0"/>
              </a:rPr>
              <a:t> Analysis of the difference in proportions of a characteristic shared by members of two different populations. </a:t>
            </a:r>
            <a:endParaRPr lang="en-GB"/>
          </a:p>
        </p:txBody>
      </p:sp>
    </p:spTree>
    <p:extLst>
      <p:ext uri="{BB962C8B-B14F-4D97-AF65-F5344CB8AC3E}">
        <p14:creationId xmlns:p14="http://schemas.microsoft.com/office/powerpoint/2010/main" val="32494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B64221B-D6D4-E382-A91A-99FF908D5475}"/>
              </a:ext>
            </a:extLst>
          </p:cNvPr>
          <p:cNvSpPr>
            <a:spLocks noGrp="1"/>
          </p:cNvSpPr>
          <p:nvPr>
            <p:ph type="subTitle" idx="1"/>
          </p:nvPr>
        </p:nvSpPr>
        <p:spPr>
          <a:xfrm>
            <a:off x="521219" y="284375"/>
            <a:ext cx="10406581" cy="1391600"/>
          </a:xfrm>
        </p:spPr>
        <p:txBody>
          <a:bodyPr vert="horz" lIns="0" tIns="0" rIns="0" bIns="0" rtlCol="0" anchor="t">
            <a:noAutofit/>
          </a:bodyPr>
          <a:lstStyle/>
          <a:p>
            <a:pPr>
              <a:lnSpc>
                <a:spcPct val="100000"/>
              </a:lnSpc>
            </a:pPr>
            <a:r>
              <a:rPr lang="en-GB" sz="2400" b="0" dirty="0">
                <a:latin typeface="Calibri"/>
                <a:cs typeface="Calibri"/>
              </a:rPr>
              <a:t>Add your </a:t>
            </a:r>
            <a:r>
              <a:rPr lang="en-GB" sz="2400" dirty="0">
                <a:latin typeface="Calibri"/>
                <a:cs typeface="Calibri"/>
              </a:rPr>
              <a:t>Hypotheses</a:t>
            </a:r>
            <a:r>
              <a:rPr lang="en-GB" sz="2400" b="0" dirty="0">
                <a:latin typeface="Calibri"/>
                <a:cs typeface="Calibri"/>
              </a:rPr>
              <a:t> to the previous RQ Slide  (both the Null and Alternative Hypotheses).  Here are definitions and examples. </a:t>
            </a:r>
            <a:r>
              <a:rPr lang="en-GB" sz="2400" dirty="0">
                <a:latin typeface="Calibri"/>
                <a:cs typeface="Calibri"/>
              </a:rPr>
              <a:t>Your hypothesis wording comes directly from your RQ</a:t>
            </a:r>
            <a:r>
              <a:rPr lang="en-GB" sz="2400" b="0" dirty="0">
                <a:latin typeface="Calibri"/>
                <a:cs typeface="Calibri"/>
              </a:rPr>
              <a:t>. This is the formal way of reporting the results of your inferential test statistics,  in which we report the </a:t>
            </a:r>
            <a:r>
              <a:rPr lang="en-GB" sz="2400" b="0" i="1" dirty="0">
                <a:latin typeface="Calibri"/>
                <a:cs typeface="Calibri"/>
              </a:rPr>
              <a:t>effect</a:t>
            </a:r>
            <a:r>
              <a:rPr lang="en-GB" sz="2400" b="0" dirty="0">
                <a:latin typeface="Calibri"/>
                <a:cs typeface="Calibri"/>
              </a:rPr>
              <a:t> the independent variable has on the dependent variable – </a:t>
            </a:r>
          </a:p>
          <a:p>
            <a:pPr marL="457200" indent="-457200">
              <a:lnSpc>
                <a:spcPct val="100000"/>
              </a:lnSpc>
              <a:buAutoNum type="arabicPeriod"/>
            </a:pPr>
            <a:r>
              <a:rPr lang="en-GB" sz="2000" b="0" dirty="0">
                <a:solidFill>
                  <a:schemeClr val="tx1"/>
                </a:solidFill>
                <a:latin typeface="Arial"/>
                <a:cs typeface="Arial"/>
              </a:rPr>
              <a:t>Null hypothesis (H</a:t>
            </a:r>
            <a:r>
              <a:rPr lang="en-GB" sz="2000" b="0" baseline="-25000" dirty="0">
                <a:solidFill>
                  <a:schemeClr val="tx1"/>
                </a:solidFill>
                <a:latin typeface="Arial"/>
                <a:cs typeface="Arial"/>
              </a:rPr>
              <a:t>0</a:t>
            </a:r>
            <a:r>
              <a:rPr lang="en-GB" sz="2000" b="0" dirty="0">
                <a:solidFill>
                  <a:schemeClr val="tx1"/>
                </a:solidFill>
                <a:latin typeface="Arial"/>
                <a:cs typeface="Arial"/>
              </a:rPr>
              <a:t>): There is </a:t>
            </a:r>
            <a:r>
              <a:rPr lang="en-GB" sz="2000" dirty="0">
                <a:solidFill>
                  <a:schemeClr val="tx1"/>
                </a:solidFill>
                <a:latin typeface="Arial"/>
                <a:cs typeface="Arial"/>
              </a:rPr>
              <a:t>no</a:t>
            </a:r>
            <a:r>
              <a:rPr lang="en-GB" sz="2000" b="0" dirty="0">
                <a:solidFill>
                  <a:schemeClr val="tx1"/>
                </a:solidFill>
                <a:latin typeface="Arial"/>
                <a:cs typeface="Arial"/>
              </a:rPr>
              <a:t> difference in the mean weekly deaths per  million population between high-income and low-income countries.</a:t>
            </a:r>
          </a:p>
          <a:p>
            <a:pPr>
              <a:lnSpc>
                <a:spcPct val="100000"/>
              </a:lnSpc>
            </a:pPr>
            <a:r>
              <a:rPr lang="en-GB" sz="2000" b="0" dirty="0">
                <a:solidFill>
                  <a:schemeClr val="tx1"/>
                </a:solidFill>
                <a:latin typeface="Arial"/>
                <a:cs typeface="Arial"/>
              </a:rPr>
              <a:t>2.     Alternative hypothesis (H₁): There is a difference in the mean weekly deaths per million population between high-income and low-income countries.</a:t>
            </a:r>
          </a:p>
        </p:txBody>
      </p:sp>
      <p:sp>
        <p:nvSpPr>
          <p:cNvPr id="4" name="Slide Number Placeholder 3">
            <a:extLst>
              <a:ext uri="{FF2B5EF4-FFF2-40B4-BE49-F238E27FC236}">
                <a16:creationId xmlns:a16="http://schemas.microsoft.com/office/drawing/2014/main" id="{FF7EDF94-2B89-A21D-BBC0-E455C2D9893B}"/>
              </a:ext>
            </a:extLst>
          </p:cNvPr>
          <p:cNvSpPr>
            <a:spLocks noGrp="1"/>
          </p:cNvSpPr>
          <p:nvPr>
            <p:ph type="sldNum" sz="quarter" idx="12"/>
          </p:nvPr>
        </p:nvSpPr>
        <p:spPr>
          <a:xfrm>
            <a:off x="11269543" y="284375"/>
            <a:ext cx="558281" cy="221244"/>
          </a:xfrm>
        </p:spPr>
        <p:txBody>
          <a:bodyPr/>
          <a:lstStyle/>
          <a:p>
            <a:r>
              <a:rPr lang="en-US"/>
              <a:t>4</a:t>
            </a:r>
            <a:endParaRPr lang="en-GB"/>
          </a:p>
        </p:txBody>
      </p:sp>
      <p:sp>
        <p:nvSpPr>
          <p:cNvPr id="6" name="TextBox 5">
            <a:extLst>
              <a:ext uri="{FF2B5EF4-FFF2-40B4-BE49-F238E27FC236}">
                <a16:creationId xmlns:a16="http://schemas.microsoft.com/office/drawing/2014/main" id="{1841CE34-1B2E-88D5-0C3F-506E8C37BB7B}"/>
              </a:ext>
            </a:extLst>
          </p:cNvPr>
          <p:cNvSpPr txBox="1"/>
          <p:nvPr/>
        </p:nvSpPr>
        <p:spPr>
          <a:xfrm>
            <a:off x="3356146" y="5298491"/>
            <a:ext cx="7811780" cy="1477328"/>
          </a:xfrm>
          <a:prstGeom prst="rect">
            <a:avLst/>
          </a:prstGeom>
          <a:noFill/>
        </p:spPr>
        <p:txBody>
          <a:bodyPr wrap="square" lIns="91440" tIns="45720" rIns="91440" bIns="45720" anchor="t">
            <a:spAutoFit/>
          </a:bodyPr>
          <a:lstStyle/>
          <a:p>
            <a:r>
              <a:rPr lang="en-GB" dirty="0"/>
              <a:t>L</a:t>
            </a:r>
            <a:r>
              <a:rPr lang="en-GB" sz="1800" b="0" dirty="0"/>
              <a:t>eave the hypotheses as </a:t>
            </a:r>
            <a:r>
              <a:rPr lang="en-GB" dirty="0"/>
              <a:t>two </a:t>
            </a:r>
            <a:r>
              <a:rPr lang="en-GB" sz="1800" b="0" dirty="0"/>
              <a:t>statements for now – after your </a:t>
            </a:r>
            <a:r>
              <a:rPr lang="en-GB" dirty="0"/>
              <a:t>statistical </a:t>
            </a:r>
            <a:r>
              <a:rPr lang="en-GB" sz="1800" b="0" dirty="0"/>
              <a:t>analysis </a:t>
            </a:r>
            <a:r>
              <a:rPr lang="en-GB" dirty="0"/>
              <a:t>test, </a:t>
            </a:r>
            <a:r>
              <a:rPr lang="en-GB" sz="1800" b="0" dirty="0"/>
              <a:t>you </a:t>
            </a:r>
            <a:r>
              <a:rPr lang="en-GB" dirty="0"/>
              <a:t>will </a:t>
            </a:r>
            <a:r>
              <a:rPr lang="en-GB" sz="1800" b="0" dirty="0"/>
              <a:t>choose one or the other.</a:t>
            </a:r>
            <a:r>
              <a:rPr lang="en-GB" dirty="0"/>
              <a:t> (</a:t>
            </a:r>
            <a:r>
              <a:rPr lang="en-GB" i="1" dirty="0"/>
              <a:t>You will report: "We fail to reject the null hypothesis" with no significant result, or if you do have significance [p-value = &lt; 0.05] you can state "We reject the null hypothesis".   More guidance on hypothesis testing is given in the lectures</a:t>
            </a:r>
            <a:r>
              <a:rPr lang="en-GB" dirty="0"/>
              <a:t>.)</a:t>
            </a:r>
            <a:endParaRPr lang="en-GB" dirty="0">
              <a:cs typeface="Arial"/>
            </a:endParaRPr>
          </a:p>
        </p:txBody>
      </p:sp>
    </p:spTree>
    <p:extLst>
      <p:ext uri="{BB962C8B-B14F-4D97-AF65-F5344CB8AC3E}">
        <p14:creationId xmlns:p14="http://schemas.microsoft.com/office/powerpoint/2010/main" val="2952338475"/>
      </p:ext>
    </p:extLst>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21B8C57-903D-4D0E-8336-7B512F760CD1}">
  <ds:schemaRefs>
    <ds:schemaRef ds:uri="3c474641-ec36-472f-b125-6b1b0910eaa4"/>
    <ds:schemaRef ds:uri="4ad138b4-2b68-4b70-945d-07f8f18b1c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DD1FC41-23C7-41B0-B5F9-BF4CD38AD2ED}">
  <ds:schemaRefs>
    <ds:schemaRef ds:uri="3c474641-ec36-472f-b125-6b1b0910eaa4"/>
    <ds:schemaRef ds:uri="4ad138b4-2b68-4b70-945d-07f8f18b1c9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91C521DD-2673-4EE6-BB9B-DC5C3320FFB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715</TotalTime>
  <Words>703</Words>
  <Application>Microsoft Macintosh PowerPoint</Application>
  <PresentationFormat>Widescreen</PresentationFormat>
  <Paragraphs>32</Paragraphs>
  <Slides>5</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Segoe UI</vt:lpstr>
      <vt:lpstr>Herts Theme</vt:lpstr>
      <vt:lpstr>Research Question – Is there a difference in the mean weekly COVID-19 deaths per million population between high-income and low-income countries? </vt:lpstr>
      <vt:lpstr>‘new_cases’ and ‘new_deaths’     </vt:lpstr>
      <vt:lpstr>This dataset is interesting to us because : This dataset is interesting to us because it contains global COVID-19 daily statistics across many countries and income groups , including weekly death counts. This allows us to compare morality  Our  Independent variable is: (High income / Low income)                This  Independent variable datatype is (select one): Categorical/Nominal data. Our Dependent variable is: (weekly_deaths per million population) This Dependent variable datatype is  (select one): Continous/Interval-ratio measurement data</vt:lpstr>
      <vt:lpstr>Template 2: Comparision of means: “Is there a difference in the mean weekly COVID-19 deaths per million population between high-income and low-income countries??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dc:creator>
  <cp:lastModifiedBy>Purna Satish Dasari [Student-PECS]</cp:lastModifiedBy>
  <cp:revision>121</cp:revision>
  <dcterms:created xsi:type="dcterms:W3CDTF">2019-10-01T08:37:56Z</dcterms:created>
  <dcterms:modified xsi:type="dcterms:W3CDTF">2025-12-04T00:14:07Z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ies>
</file>