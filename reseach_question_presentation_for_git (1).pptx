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94708"/>
  </p:normalViewPr>
  <p:slideViewPr>
    <p:cSldViewPr snapToGrid="0">
      <p:cViewPr varScale="1">
        <p:scale>
          <a:sx n="104" d="100"/>
          <a:sy n="104" d="100"/>
        </p:scale>
        <p:origin x="136" y="80"/>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12/12/2025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12/12/2025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a:xfrm>
            <a:off x="953999" y="2579715"/>
            <a:ext cx="10605823" cy="1913263"/>
          </a:xfrm>
        </p:spPr>
        <p:txBody>
          <a:bodyPr>
            <a:normAutofit fontScale="90000"/>
          </a:bodyPr>
          <a:lstStyle/>
          <a:p>
            <a:pPr>
              <a:lnSpc>
                <a:spcPct val="100000"/>
              </a:lnSpc>
            </a:pPr>
            <a:r>
              <a:rPr lang="en-US" sz="4000" dirty="0"/>
              <a:t>Research Question </a:t>
            </a:r>
            <a:r>
              <a:rPr lang="en-US" sz="3100" dirty="0"/>
              <a:t>– </a:t>
            </a:r>
            <a:r>
              <a:rPr lang="en-US" sz="3200" dirty="0"/>
              <a:t>Is there a difference in the mean weekly COVID-19 deaths between high-income and low-income countries?</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54000" y="1890000"/>
            <a:ext cx="10908652" cy="360000"/>
          </a:xfrm>
        </p:spPr>
        <p:txBody>
          <a:bodyPr/>
          <a:lstStyle/>
          <a:p>
            <a:r>
              <a:rPr lang="en-US" sz="2000" dirty="0"/>
              <a:t>Group Name:                                                            Name of Student Presenting: </a:t>
            </a:r>
            <a:r>
              <a:rPr lang="en-US" sz="2000" dirty="0" err="1"/>
              <a:t>Purna</a:t>
            </a:r>
            <a:r>
              <a:rPr lang="en-US" sz="2000" dirty="0"/>
              <a:t> Satish </a:t>
            </a:r>
            <a:r>
              <a:rPr lang="en-US" sz="2000" dirty="0" err="1"/>
              <a:t>Dasari</a:t>
            </a:r>
            <a:endParaRPr lang="en-US" sz="2000" dirty="0"/>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a:t>
            </a:r>
            <a:r>
              <a:rPr lang="en-GB" b="0" i="0" dirty="0">
                <a:solidFill>
                  <a:srgbClr val="323130"/>
                </a:solidFill>
                <a:effectLst/>
                <a:latin typeface="Segoe UI" panose="020B0502040204020203" pitchFamily="34" charset="0"/>
              </a:rPr>
              <a:t>A188</a:t>
            </a:r>
            <a:r>
              <a:rPr lang="en-GB" dirty="0"/>
              <a:t>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A188</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2089858"/>
            <a:ext cx="6519650" cy="3194024"/>
          </a:xfrm>
        </p:spPr>
        <p:txBody>
          <a:bodyPr>
            <a:normAutofit fontScale="90000"/>
          </a:bodyPr>
          <a:lstStyle/>
          <a:p>
            <a:pPr marL="742950" indent="-742950">
              <a:lnSpc>
                <a:spcPts val="2880"/>
              </a:lnSpc>
              <a:spcBef>
                <a:spcPts val="0"/>
              </a:spcBef>
              <a:spcAft>
                <a:spcPts val="992"/>
              </a:spcAft>
              <a:buAutoNum type="arabicPeriod"/>
            </a:pPr>
            <a:r>
              <a:rPr lang="en-GB" sz="2800" b="0" dirty="0">
                <a:cs typeface="Arial"/>
              </a:rPr>
              <a:t>‘</a:t>
            </a:r>
            <a:r>
              <a:rPr lang="en-GB" sz="2800" b="0" dirty="0" err="1">
                <a:cs typeface="Arial"/>
              </a:rPr>
              <a:t>new_cases</a:t>
            </a:r>
            <a:r>
              <a:rPr lang="en-GB" sz="2800" b="0" dirty="0">
                <a:cs typeface="Arial"/>
              </a:rPr>
              <a:t>’ and ‘</a:t>
            </a:r>
            <a:r>
              <a:rPr lang="en-GB" sz="2800" b="0" dirty="0" err="1">
                <a:cs typeface="Arial"/>
              </a:rPr>
              <a:t>new_deaths</a:t>
            </a:r>
            <a:r>
              <a:rPr lang="en-GB" sz="2800" b="0" dirty="0">
                <a:cs typeface="Arial"/>
              </a:rPr>
              <a:t>’</a:t>
            </a:r>
            <a:endParaRPr lang="en-US" sz="2800" b="0" dirty="0">
              <a:cs typeface="Arial"/>
            </a:endParaRPr>
          </a:p>
          <a:p>
            <a:pPr marL="742950" indent="-742950">
              <a:lnSpc>
                <a:spcPts val="2880"/>
              </a:lnSpc>
              <a:spcBef>
                <a:spcPts val="0"/>
              </a:spcBef>
              <a:spcAft>
                <a:spcPts val="992"/>
              </a:spcAft>
              <a:buAutoNum type="arabicPeriod"/>
            </a:pPr>
            <a:br>
              <a:rPr lang="en-GB" sz="2800" dirty="0">
                <a:cs typeface="Arial"/>
              </a:rPr>
            </a:br>
            <a:br>
              <a:rPr lang="en-GB" sz="2800" dirty="0">
                <a:cs typeface="Arial"/>
              </a:rPr>
            </a:br>
            <a:endParaRPr lang="en-GB" sz="2800" dirty="0">
              <a:cs typeface="Arial"/>
            </a:endParaRPr>
          </a:p>
          <a:p>
            <a:br>
              <a:rPr lang="en-US" sz="2400" dirty="0">
                <a:cs typeface="Arial"/>
              </a:rPr>
            </a:br>
            <a:endParaRPr lang="en-US" sz="2400" dirty="0">
              <a:cs typeface="Arial"/>
            </a:endParaRPr>
          </a:p>
        </p:txBody>
      </p:sp>
      <p:pic>
        <p:nvPicPr>
          <p:cNvPr id="6" name="Picture 5" descr="A screenshot of a table&#10;&#10;AI-generated content may be incorrect.">
            <a:extLst>
              <a:ext uri="{FF2B5EF4-FFF2-40B4-BE49-F238E27FC236}">
                <a16:creationId xmlns:a16="http://schemas.microsoft.com/office/drawing/2014/main" id="{EBCF0E47-8F97-BDAB-4B20-2EF4CD03C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2621" y="2556253"/>
            <a:ext cx="5204176" cy="2240686"/>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2000" dirty="0">
                <a:solidFill>
                  <a:schemeClr val="tx1"/>
                </a:solidFill>
              </a:rPr>
              <a:t>: ds030, full_data.csv</a:t>
            </a:r>
            <a:endParaRPr lang="en-US" sz="2400" dirty="0">
              <a:solidFill>
                <a:schemeClr val="tx1"/>
              </a:solidFill>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a:t>
            </a:r>
            <a:r>
              <a:rPr lang="en-GB" b="0" i="0" dirty="0">
                <a:solidFill>
                  <a:srgbClr val="323130"/>
                </a:solidFill>
                <a:effectLst/>
                <a:latin typeface="Segoe UI" panose="020B0502040204020203" pitchFamily="34" charset="0"/>
              </a:rPr>
              <a:t>A188</a:t>
            </a:r>
            <a:r>
              <a:rPr lang="en-GB" dirty="0"/>
              <a:t>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 </a:t>
            </a:r>
            <a:r>
              <a:rPr lang="en-GB" sz="2400" b="0" dirty="0">
                <a:latin typeface="Calibri"/>
                <a:cs typeface="Calibri"/>
              </a:rPr>
              <a:t>This dataset is interesting to us because it contains global COVID-19 daily statistics across many countries and income groups , including weekly death counts. This allows us to compare morality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(High income / Low income)               </a:t>
            </a:r>
            <a:br>
              <a:rPr lang="en-US" sz="2400" b="0" dirty="0">
                <a:latin typeface="Calibri"/>
                <a:cs typeface="Calibri"/>
              </a:rPr>
            </a:br>
            <a:r>
              <a:rPr lang="en-US" sz="2400" b="0" dirty="0">
                <a:latin typeface="Calibri"/>
                <a:cs typeface="Calibri"/>
              </a:rPr>
              <a:t>This  Independent variable datatype is (select one): Categorical/Nominal data.</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err="1">
                <a:latin typeface="Calibri"/>
                <a:cs typeface="Calibri"/>
              </a:rPr>
              <a:t>weekly_deaths</a:t>
            </a:r>
            <a:r>
              <a:rPr lang="en-US" sz="2400" b="0" dirty="0">
                <a:latin typeface="Calibri"/>
                <a:cs typeface="Calibri"/>
              </a:rPr>
              <a:t>)</a:t>
            </a:r>
            <a:br>
              <a:rPr lang="en-US" sz="2400" b="0" dirty="0">
                <a:latin typeface="Calibri" panose="020F0502020204030204" pitchFamily="34" charset="0"/>
                <a:cs typeface="Calibri" panose="020F0502020204030204" pitchFamily="34" charset="0"/>
              </a:rPr>
            </a:br>
            <a:r>
              <a:rPr lang="en-US" sz="2400" b="0" dirty="0">
                <a:latin typeface="Calibri"/>
                <a:cs typeface="Calibri"/>
              </a:rPr>
              <a:t>This Dependent variable datatype is  (select one): </a:t>
            </a:r>
            <a:r>
              <a:rPr lang="en-US" sz="2400" b="0" dirty="0" err="1">
                <a:latin typeface="Calibri"/>
                <a:cs typeface="Calibri"/>
              </a:rPr>
              <a:t>Continous</a:t>
            </a:r>
            <a:r>
              <a:rPr lang="en-US" sz="2400" b="0" dirty="0">
                <a:latin typeface="Calibri"/>
                <a:cs typeface="Calibri"/>
              </a:rPr>
              <a:t>/Interval-ratio measurement data</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 </a:t>
            </a:r>
            <a:r>
              <a:rPr lang="en-GB" sz="3200" dirty="0"/>
              <a:t>Is there a significant difference in the mean weekly deaths per million population between high income  and low income countries ?</a:t>
            </a:r>
            <a:r>
              <a:rPr lang="en-US" sz="3200" dirty="0"/>
              <a:t> </a:t>
            </a:r>
            <a:endParaRPr lang="en-GB" sz="32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A188</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668696" y="2851997"/>
            <a:ext cx="10640594" cy="926674"/>
          </a:xfrm>
        </p:spPr>
        <p:txBody>
          <a:bodyPr>
            <a:noAutofit/>
          </a:bodyPr>
          <a:lstStyle/>
          <a:p>
            <a:pPr>
              <a:lnSpc>
                <a:spcPct val="100000"/>
              </a:lnSpc>
            </a:pPr>
            <a:r>
              <a:rPr lang="en-IE" sz="2400" dirty="0">
                <a:effectLst/>
                <a:latin typeface="Calibri"/>
                <a:ea typeface="Calibri" panose="020F0502020204030204" pitchFamily="34" charset="0"/>
                <a:cs typeface="Times New Roman"/>
              </a:rPr>
              <a:t>Template </a:t>
            </a:r>
            <a:r>
              <a:rPr lang="en-IE" sz="2400" baseline="30000" dirty="0">
                <a:latin typeface="Calibri"/>
                <a:ea typeface="Calibri" panose="020F0502020204030204" pitchFamily="34" charset="0"/>
                <a:cs typeface="Times New Roman"/>
              </a:rPr>
              <a:t>2</a:t>
            </a:r>
            <a:r>
              <a:rPr lang="en-IE" sz="2400" b="0" baseline="30000" dirty="0">
                <a:latin typeface="Calibri"/>
                <a:ea typeface="Calibri" panose="020F0502020204030204" pitchFamily="34" charset="0"/>
                <a:cs typeface="Times New Roman"/>
              </a:rPr>
              <a:t>:</a:t>
            </a:r>
            <a:r>
              <a:rPr lang="en-IE" sz="2400" b="0" dirty="0">
                <a:effectLst/>
                <a:latin typeface="Calibri"/>
                <a:ea typeface="Calibri" panose="020F0502020204030204" pitchFamily="34" charset="0"/>
                <a:cs typeface="Times New Roman"/>
              </a:rPr>
              <a:t> </a:t>
            </a:r>
            <a:r>
              <a:rPr lang="en-IE" sz="2400" b="0" dirty="0" err="1">
                <a:effectLst/>
                <a:latin typeface="Calibri"/>
                <a:ea typeface="Calibri" panose="020F0502020204030204" pitchFamily="34" charset="0"/>
                <a:cs typeface="Times New Roman"/>
              </a:rPr>
              <a:t>Comparision</a:t>
            </a:r>
            <a:r>
              <a:rPr lang="en-IE" sz="2400" b="0" dirty="0">
                <a:effectLst/>
                <a:latin typeface="Calibri"/>
                <a:ea typeface="Calibri" panose="020F0502020204030204" pitchFamily="34" charset="0"/>
                <a:cs typeface="Times New Roman"/>
              </a:rPr>
              <a:t> of means</a:t>
            </a:r>
            <a:r>
              <a:rPr lang="en-IE" sz="2400" b="0" dirty="0">
                <a:latin typeface="Calibri"/>
                <a:ea typeface="Calibri" panose="020F0502020204030204" pitchFamily="34" charset="0"/>
                <a:cs typeface="Times New Roman"/>
              </a:rPr>
              <a:t>: “</a:t>
            </a:r>
            <a:r>
              <a:rPr lang="en-US" sz="2400" dirty="0"/>
              <a:t>Is there a difference in the mean weekly COVID-19 deaths between high-income and low-income countries?</a:t>
            </a:r>
            <a:r>
              <a:rPr lang="en-GB" sz="2400" dirty="0"/>
              <a:t>?</a:t>
            </a:r>
            <a:r>
              <a:rPr lang="en-US" sz="2400" dirty="0"/>
              <a:t> </a:t>
            </a:r>
            <a:r>
              <a:rPr lang="en-US" sz="2400" b="0" dirty="0">
                <a:latin typeface="Calibri"/>
                <a:ea typeface="Calibri" panose="020F0502020204030204" pitchFamily="34" charset="0"/>
                <a:cs typeface="Times New Roman"/>
              </a:rPr>
              <a:t>”</a:t>
            </a:r>
            <a:endParaRPr lang="en-GB" sz="2400" dirty="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a:t>1</a:t>
            </a:r>
            <a:r>
              <a:rPr lang="en-GB" b="1">
                <a:latin typeface="Calibri"/>
                <a:cs typeface="Calibri"/>
              </a:rPr>
              <a:t>Correlation</a:t>
            </a:r>
            <a:r>
              <a:rPr lang="en-GB"/>
              <a:t> (</a:t>
            </a:r>
            <a:r>
              <a:rPr lang="en-IE" sz="1800">
                <a:effectLst/>
                <a:latin typeface="Calibri"/>
                <a:ea typeface="Calibri" panose="020F0502020204030204" pitchFamily="34" charset="0"/>
                <a:cs typeface="Times New Roman"/>
              </a:rPr>
              <a:t>Analysis of how </a:t>
            </a:r>
            <a:r>
              <a:rPr lang="en-IE" sz="1800">
                <a:solidFill>
                  <a:srgbClr val="FF0000"/>
                </a:solidFill>
                <a:effectLst/>
                <a:latin typeface="Calibri"/>
                <a:ea typeface="Calibri" panose="020F0502020204030204" pitchFamily="34" charset="0"/>
                <a:cs typeface="Times New Roman"/>
              </a:rPr>
              <a:t>ordinal</a:t>
            </a:r>
            <a:r>
              <a:rPr lang="en-IE">
                <a:solidFill>
                  <a:srgbClr val="FF0000"/>
                </a:solidFill>
                <a:latin typeface="Calibri"/>
                <a:ea typeface="Calibri" panose="020F0502020204030204" pitchFamily="34" charset="0"/>
                <a:cs typeface="Times New Roman"/>
              </a:rPr>
              <a:t>/</a:t>
            </a:r>
            <a:r>
              <a:rPr lang="en-IE" sz="1800">
                <a:solidFill>
                  <a:srgbClr val="FF0000"/>
                </a:solidFill>
                <a:effectLst/>
                <a:latin typeface="Calibri"/>
                <a:ea typeface="Calibri" panose="020F0502020204030204" pitchFamily="34" charset="0"/>
                <a:cs typeface="Times New Roman"/>
              </a:rPr>
              <a:t>interval </a:t>
            </a:r>
            <a:r>
              <a:rPr lang="en-IE" sz="1800">
                <a:solidFill>
                  <a:srgbClr val="00B050"/>
                </a:solidFill>
                <a:effectLst/>
                <a:latin typeface="Calibri"/>
                <a:ea typeface="Calibri" panose="020F0502020204030204" pitchFamily="34" charset="0"/>
                <a:cs typeface="Times New Roman"/>
              </a:rPr>
              <a:t>dependent var</a:t>
            </a:r>
            <a:r>
              <a:rPr lang="en-IE" sz="1800">
                <a:effectLst/>
                <a:latin typeface="Calibri"/>
                <a:ea typeface="Calibri" panose="020F0502020204030204" pitchFamily="34" charset="0"/>
                <a:cs typeface="Times New Roman"/>
              </a:rPr>
              <a:t> </a:t>
            </a:r>
            <a:r>
              <a:rPr lang="en-IE">
                <a:latin typeface="Calibri"/>
                <a:ea typeface="Calibri" panose="020F0502020204030204" pitchFamily="34" charset="0"/>
                <a:cs typeface="Times New Roman"/>
              </a:rPr>
              <a:t>correlates </a:t>
            </a:r>
            <a:r>
              <a:rPr lang="en-IE" sz="1800">
                <a:effectLst/>
                <a:latin typeface="Calibri"/>
                <a:ea typeface="Calibri" panose="020F0502020204030204" pitchFamily="34" charset="0"/>
                <a:cs typeface="Times New Roman"/>
              </a:rPr>
              <a:t>to an </a:t>
            </a:r>
            <a:r>
              <a:rPr lang="en-IE" sz="1800">
                <a:solidFill>
                  <a:srgbClr val="FF0000"/>
                </a:solidFill>
                <a:effectLst/>
                <a:latin typeface="Calibri"/>
                <a:ea typeface="Calibri" panose="020F0502020204030204" pitchFamily="34" charset="0"/>
                <a:cs typeface="Times New Roman"/>
              </a:rPr>
              <a:t>ordinal/interval </a:t>
            </a:r>
            <a:r>
              <a:rPr lang="en-IE" sz="1800">
                <a:solidFill>
                  <a:srgbClr val="00B050"/>
                </a:solidFill>
                <a:effectLst/>
                <a:latin typeface="Calibri"/>
                <a:ea typeface="Calibri" panose="020F0502020204030204" pitchFamily="34" charset="0"/>
                <a:cs typeface="Times New Roman"/>
              </a:rPr>
              <a:t>independent variable)</a:t>
            </a:r>
            <a:endParaRPr lang="en-GB">
              <a:latin typeface="Calibri"/>
              <a:cs typeface="Times New Roman"/>
            </a:endParaRP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2</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3</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r>
              <a:rPr lang="en-GB" sz="2400" b="0" dirty="0">
                <a:latin typeface="Calibri"/>
                <a:cs typeface="Calibri"/>
              </a:rPr>
              <a:t>Add your </a:t>
            </a:r>
            <a:r>
              <a:rPr lang="en-GB" sz="2400" dirty="0">
                <a:latin typeface="Calibri"/>
                <a:cs typeface="Calibri"/>
              </a:rPr>
              <a:t>Hypotheses</a:t>
            </a:r>
            <a:r>
              <a:rPr lang="en-GB" sz="2400" b="0" dirty="0">
                <a:latin typeface="Calibri"/>
                <a:cs typeface="Calibri"/>
              </a:rPr>
              <a:t> to the previous RQ Slide  (both the Null and Alternative Hypotheses).  Here are definitions and examples. </a:t>
            </a:r>
            <a:r>
              <a:rPr lang="en-GB" sz="2400" dirty="0">
                <a:latin typeface="Calibri"/>
                <a:cs typeface="Calibri"/>
              </a:rPr>
              <a:t>Your hypothesis wording comes directly from your RQ</a:t>
            </a:r>
            <a:r>
              <a:rPr lang="en-GB" sz="2400" b="0" dirty="0">
                <a:latin typeface="Calibri"/>
                <a:cs typeface="Calibri"/>
              </a:rPr>
              <a:t>. This is the formal way of reporting the results of your inferential test statistics,  in which we report the </a:t>
            </a:r>
            <a:r>
              <a:rPr lang="en-GB" sz="2400" b="0" i="1" dirty="0">
                <a:latin typeface="Calibri"/>
                <a:cs typeface="Calibri"/>
              </a:rPr>
              <a:t>effect</a:t>
            </a:r>
            <a:r>
              <a:rPr lang="en-GB" sz="2400" b="0" dirty="0">
                <a:latin typeface="Calibri"/>
                <a:cs typeface="Calibri"/>
              </a:rPr>
              <a:t> the independent variable has on the dependent variable – </a:t>
            </a:r>
          </a:p>
          <a:p>
            <a:pPr marL="457200" indent="-457200">
              <a:lnSpc>
                <a:spcPct val="100000"/>
              </a:lnSpc>
              <a:buAutoNum type="arabicPeriod"/>
            </a:pPr>
            <a:r>
              <a:rPr lang="en-GB" sz="2000" b="0" dirty="0">
                <a:solidFill>
                  <a:schemeClr val="tx1"/>
                </a:solidFill>
                <a:latin typeface="Arial"/>
                <a:cs typeface="Arial"/>
              </a:rPr>
              <a:t>Null hypothesis (H</a:t>
            </a:r>
            <a:r>
              <a:rPr lang="en-GB" sz="2000" b="0" baseline="-25000" dirty="0">
                <a:solidFill>
                  <a:schemeClr val="tx1"/>
                </a:solidFill>
                <a:latin typeface="Arial"/>
                <a:cs typeface="Arial"/>
              </a:rPr>
              <a:t>0</a:t>
            </a:r>
            <a:r>
              <a:rPr lang="en-GB" sz="2000" b="0" dirty="0">
                <a:solidFill>
                  <a:schemeClr val="tx1"/>
                </a:solidFill>
                <a:latin typeface="Arial"/>
                <a:cs typeface="Arial"/>
              </a:rPr>
              <a:t>): There is </a:t>
            </a:r>
            <a:r>
              <a:rPr lang="en-GB" sz="2000" dirty="0">
                <a:solidFill>
                  <a:schemeClr val="tx1"/>
                </a:solidFill>
                <a:latin typeface="Arial"/>
                <a:cs typeface="Arial"/>
              </a:rPr>
              <a:t>no</a:t>
            </a:r>
            <a:r>
              <a:rPr lang="en-GB" sz="2000" b="0" dirty="0">
                <a:solidFill>
                  <a:schemeClr val="tx1"/>
                </a:solidFill>
                <a:latin typeface="Arial"/>
                <a:cs typeface="Arial"/>
              </a:rPr>
              <a:t> difference in the mean weekly deaths between high-income and low-income countries.</a:t>
            </a:r>
          </a:p>
          <a:p>
            <a:pPr>
              <a:lnSpc>
                <a:spcPct val="100000"/>
              </a:lnSpc>
            </a:pPr>
            <a:r>
              <a:rPr lang="en-GB" sz="2000" b="0" dirty="0">
                <a:solidFill>
                  <a:schemeClr val="tx1"/>
                </a:solidFill>
                <a:latin typeface="Arial"/>
                <a:cs typeface="Arial"/>
              </a:rPr>
              <a:t>2.     Alternative hypothesis (H₁): There is a difference in the mean weekly deaths between high-income and low-income countries.</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dirty="0"/>
              <a:t>L</a:t>
            </a:r>
            <a:r>
              <a:rPr lang="en-GB" sz="1800" b="0" dirty="0"/>
              <a:t>eave the hypotheses as </a:t>
            </a:r>
            <a:r>
              <a:rPr lang="en-GB" dirty="0"/>
              <a:t>two </a:t>
            </a:r>
            <a:r>
              <a:rPr lang="en-GB" sz="1800" b="0" dirty="0"/>
              <a:t>statements for now – after your </a:t>
            </a:r>
            <a:r>
              <a:rPr lang="en-GB" dirty="0"/>
              <a:t>statistical </a:t>
            </a:r>
            <a:r>
              <a:rPr lang="en-GB" sz="1800" b="0" dirty="0"/>
              <a:t>analysis </a:t>
            </a:r>
            <a:r>
              <a:rPr lang="en-GB" dirty="0"/>
              <a:t>test, </a:t>
            </a:r>
            <a:r>
              <a:rPr lang="en-GB" sz="1800" b="0" dirty="0"/>
              <a:t>you </a:t>
            </a:r>
            <a:r>
              <a:rPr lang="en-GB" dirty="0"/>
              <a:t>will </a:t>
            </a:r>
            <a:r>
              <a:rPr lang="en-GB" sz="1800" b="0" dirty="0"/>
              <a:t>choose one or the other.</a:t>
            </a:r>
            <a:r>
              <a:rPr lang="en-GB" dirty="0"/>
              <a:t> (</a:t>
            </a:r>
            <a:r>
              <a:rPr lang="en-GB" i="1" dirty="0"/>
              <a:t>You will report: "We fail to reject the null hypothesis" with no significant result, or if you do have significance [p-value = &lt; 0.05] you can state "We reject the null hypothesis".   More guidance on hypothesis testing is given in the lectures</a:t>
            </a:r>
            <a:r>
              <a:rPr lang="en-GB" dirty="0"/>
              <a:t>.)</a:t>
            </a:r>
            <a:endParaRPr lang="en-GB" dirty="0">
              <a:cs typeface="Arial"/>
            </a:endParaRP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715</TotalTime>
  <Words>688</Words>
  <Application>Microsoft Office PowerPoint</Application>
  <PresentationFormat>Widescreen</PresentationFormat>
  <Paragraphs>32</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Segoe UI</vt:lpstr>
      <vt:lpstr>Herts Theme</vt:lpstr>
      <vt:lpstr>Research Question – Is there a difference in the mean weekly COVID-19 deaths between high-income and low-income countries? </vt:lpstr>
      <vt:lpstr>‘new_cases’ and ‘new_deaths’     </vt:lpstr>
      <vt:lpstr>This dataset is interesting to us because : This dataset is interesting to us because it contains global COVID-19 daily statistics across many countries and income groups , including weekly death counts. This allows us to compare morality  Our  Independent variable is: (High income / Low income)                This  Independent variable datatype is (select one): Categorical/Nominal data. Our Dependent variable is: (weekly_deaths) This Dependent variable datatype is  (select one): Continous/Interval-ratio measurement data</vt:lpstr>
      <vt:lpstr>Template 2: Comparision of means: “Is there a difference in the mean weekly COVID-19 deaths between high-income and low-income countries??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Sai Sujit Varma Gottumukkala</cp:lastModifiedBy>
  <cp:revision>122</cp:revision>
  <dcterms:created xsi:type="dcterms:W3CDTF">2019-10-01T08:37:56Z</dcterms:created>
  <dcterms:modified xsi:type="dcterms:W3CDTF">2025-12-12T10:18:04Z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